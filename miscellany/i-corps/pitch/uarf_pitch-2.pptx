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Newsreader"/>
      <p:regular r:id="rId20"/>
      <p:bold r:id="rId21"/>
      <p:italic r:id="rId22"/>
      <p:boldItalic r:id="rId23"/>
    </p:embeddedFont>
    <p:embeddedFont>
      <p:font typeface="DM Sans Light"/>
      <p:regular r:id="rId24"/>
      <p:bold r:id="rId25"/>
      <p:italic r:id="rId26"/>
      <p:boldItalic r:id="rId27"/>
    </p:embeddedFont>
    <p:embeddedFont>
      <p:font typeface="DM Sans SemiBold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  <p:embeddedFont>
      <p:font typeface="Newsreader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SemiBold-boldItalic.fntdata"/><Relationship Id="rId30" Type="http://schemas.openxmlformats.org/officeDocument/2006/relationships/font" Target="fonts/DMSansSemiBold-italic.fntdata"/><Relationship Id="rId33" Type="http://schemas.openxmlformats.org/officeDocument/2006/relationships/font" Target="fonts/DMSans-bold.fntdata"/><Relationship Id="rId32" Type="http://schemas.openxmlformats.org/officeDocument/2006/relationships/font" Target="fonts/DMSans-regular.fntdata"/><Relationship Id="rId35" Type="http://schemas.openxmlformats.org/officeDocument/2006/relationships/font" Target="fonts/DMSans-boldItalic.fntdata"/><Relationship Id="rId34" Type="http://schemas.openxmlformats.org/officeDocument/2006/relationships/font" Target="fonts/DMSans-italic.fntdata"/><Relationship Id="rId37" Type="http://schemas.openxmlformats.org/officeDocument/2006/relationships/font" Target="fonts/NewsreaderSemiBold-bold.fntdata"/><Relationship Id="rId36" Type="http://schemas.openxmlformats.org/officeDocument/2006/relationships/font" Target="fonts/NewsreaderSemiBold-regular.fntdata"/><Relationship Id="rId39" Type="http://schemas.openxmlformats.org/officeDocument/2006/relationships/font" Target="fonts/NewsreaderSemiBold-boldItalic.fntdata"/><Relationship Id="rId38" Type="http://schemas.openxmlformats.org/officeDocument/2006/relationships/font" Target="fonts/NewsreaderSemiBold-italic.fntdata"/><Relationship Id="rId20" Type="http://schemas.openxmlformats.org/officeDocument/2006/relationships/font" Target="fonts/Newsreader-regular.fntdata"/><Relationship Id="rId22" Type="http://schemas.openxmlformats.org/officeDocument/2006/relationships/font" Target="fonts/Newsreader-italic.fntdata"/><Relationship Id="rId21" Type="http://schemas.openxmlformats.org/officeDocument/2006/relationships/font" Target="fonts/Newsreader-bold.fntdata"/><Relationship Id="rId24" Type="http://schemas.openxmlformats.org/officeDocument/2006/relationships/font" Target="fonts/DMSansLight-regular.fntdata"/><Relationship Id="rId23" Type="http://schemas.openxmlformats.org/officeDocument/2006/relationships/font" Target="fonts/Newsreader-boldItalic.fntdata"/><Relationship Id="rId26" Type="http://schemas.openxmlformats.org/officeDocument/2006/relationships/font" Target="fonts/DMSansLight-italic.fntdata"/><Relationship Id="rId25" Type="http://schemas.openxmlformats.org/officeDocument/2006/relationships/font" Target="fonts/DMSansLight-bold.fntdata"/><Relationship Id="rId28" Type="http://schemas.openxmlformats.org/officeDocument/2006/relationships/font" Target="fonts/DMSansSemiBold-regular.fntdata"/><Relationship Id="rId27" Type="http://schemas.openxmlformats.org/officeDocument/2006/relationships/font" Target="fonts/DMSansLight-boldItalic.fntdata"/><Relationship Id="rId29" Type="http://schemas.openxmlformats.org/officeDocument/2006/relationships/font" Target="fonts/DMSa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3bfa632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53bfa632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53bfa6328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53bfa6328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53bfa63287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53bfa63287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53bfa6328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53bfa6328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53bfa63287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53bfa63287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53bfa63287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53bfa6328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53bfa63287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53bfa63287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53bfa63287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53bfa63287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53bfa63287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53bfa63287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53bfa63287_7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53bfa63287_7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7.jpg"/><Relationship Id="rId5" Type="http://schemas.openxmlformats.org/officeDocument/2006/relationships/image" Target="../media/image4.png"/><Relationship Id="rId6" Type="http://schemas.openxmlformats.org/officeDocument/2006/relationships/image" Target="../media/image6.jpg"/><Relationship Id="rId7" Type="http://schemas.openxmlformats.org/officeDocument/2006/relationships/image" Target="../media/image10.png"/><Relationship Id="rId8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"/>
          <p:cNvSpPr txBox="1"/>
          <p:nvPr>
            <p:ph type="title"/>
          </p:nvPr>
        </p:nvSpPr>
        <p:spPr>
          <a:xfrm>
            <a:off x="361975" y="771125"/>
            <a:ext cx="3860100" cy="17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  Development</a:t>
            </a:r>
            <a:endParaRPr/>
          </a:p>
        </p:txBody>
      </p:sp>
      <p:sp>
        <p:nvSpPr>
          <p:cNvPr id="469" name="Google Shape;469;p55"/>
          <p:cNvSpPr txBox="1"/>
          <p:nvPr>
            <p:ph idx="1" type="subTitle"/>
          </p:nvPr>
        </p:nvSpPr>
        <p:spPr>
          <a:xfrm>
            <a:off x="361975" y="21508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Decentralized AgTech: Your Data, Your Network, Your Community</a:t>
            </a:r>
            <a:endParaRPr sz="1300"/>
          </a:p>
        </p:txBody>
      </p:sp>
      <p:sp>
        <p:nvSpPr>
          <p:cNvPr id="470" name="Google Shape;470;p55"/>
          <p:cNvSpPr/>
          <p:nvPr/>
        </p:nvSpPr>
        <p:spPr>
          <a:xfrm>
            <a:off x="0" y="2523200"/>
            <a:ext cx="4525200" cy="26202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1" name="Google Shape;471;p55"/>
          <p:cNvSpPr txBox="1"/>
          <p:nvPr>
            <p:ph idx="4294967295" type="subTitle"/>
          </p:nvPr>
        </p:nvSpPr>
        <p:spPr>
          <a:xfrm>
            <a:off x="340500" y="4591258"/>
            <a:ext cx="17964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Dylan Montgomery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2" name="Google Shape;472;p55"/>
          <p:cNvSpPr txBox="1"/>
          <p:nvPr>
            <p:ph idx="4294967295" type="subTitle"/>
          </p:nvPr>
        </p:nvSpPr>
        <p:spPr>
          <a:xfrm>
            <a:off x="159900" y="4261350"/>
            <a:ext cx="21726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Founder</a:t>
            </a:r>
            <a:r>
              <a:rPr lang="en" sz="1800">
                <a:solidFill>
                  <a:schemeClr val="dk1"/>
                </a:solidFill>
              </a:rPr>
              <a:t> &amp; </a:t>
            </a:r>
            <a:r>
              <a:rPr lang="en" sz="1800">
                <a:solidFill>
                  <a:schemeClr val="dk1"/>
                </a:solidFill>
              </a:rPr>
              <a:t>Creator</a:t>
            </a:r>
            <a:endParaRPr sz="1800"/>
          </a:p>
        </p:txBody>
      </p:sp>
      <p:sp>
        <p:nvSpPr>
          <p:cNvPr id="473" name="Google Shape;473;p55"/>
          <p:cNvSpPr txBox="1"/>
          <p:nvPr>
            <p:ph idx="4294967295" type="body"/>
          </p:nvPr>
        </p:nvSpPr>
        <p:spPr>
          <a:xfrm>
            <a:off x="2524575" y="2839775"/>
            <a:ext cx="1900800" cy="19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</a:rPr>
              <a:t>·</a:t>
            </a:r>
            <a:r>
              <a:rPr lang="en" sz="1800">
                <a:solidFill>
                  <a:schemeClr val="accent6"/>
                </a:solidFill>
                <a:latin typeface="DM Sans Light"/>
                <a:ea typeface="DM Sans Light"/>
                <a:cs typeface="DM Sans Light"/>
                <a:sym typeface="DM Sans Light"/>
              </a:rPr>
              <a:t> </a:t>
            </a:r>
            <a:r>
              <a:rPr lang="en" sz="1800">
                <a:solidFill>
                  <a:schemeClr val="accent6"/>
                </a:solidFill>
                <a:latin typeface="DM Sans Light"/>
                <a:ea typeface="DM Sans Light"/>
                <a:cs typeface="DM Sans Light"/>
                <a:sym typeface="DM Sans Light"/>
              </a:rPr>
              <a:t>Computer Engineering &amp; </a:t>
            </a:r>
            <a:r>
              <a:rPr lang="en" sz="1800">
                <a:solidFill>
                  <a:schemeClr val="accent6"/>
                </a:solidFill>
                <a:latin typeface="DM Sans Light"/>
                <a:ea typeface="DM Sans Light"/>
                <a:cs typeface="DM Sans Light"/>
                <a:sym typeface="DM Sans Light"/>
              </a:rPr>
              <a:t>Mathematics</a:t>
            </a:r>
            <a:endParaRPr sz="1800">
              <a:solidFill>
                <a:schemeClr val="accent6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DM Sans Light"/>
              <a:ea typeface="DM Sans Light"/>
              <a:cs typeface="DM Sans Light"/>
              <a:sym typeface="DM Sans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</a:rPr>
              <a:t>·</a:t>
            </a:r>
            <a:r>
              <a:rPr lang="en" sz="1800">
                <a:solidFill>
                  <a:schemeClr val="accent6"/>
                </a:solidFill>
                <a:latin typeface="DM Sans Light"/>
                <a:ea typeface="DM Sans Light"/>
                <a:cs typeface="DM Sans Light"/>
                <a:sym typeface="DM Sans Light"/>
              </a:rPr>
              <a:t> Motivated by Community</a:t>
            </a:r>
            <a:endParaRPr sz="1800">
              <a:solidFill>
                <a:schemeClr val="accent6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id="474" name="Google Shape;474;p55"/>
          <p:cNvPicPr preferRelativeResize="0"/>
          <p:nvPr/>
        </p:nvPicPr>
        <p:blipFill rotWithShape="1">
          <a:blip r:embed="rId3">
            <a:alphaModFix/>
          </a:blip>
          <a:srcRect b="0" l="0" r="0" t="12762"/>
          <a:stretch/>
        </p:blipFill>
        <p:spPr>
          <a:xfrm>
            <a:off x="393737" y="2590487"/>
            <a:ext cx="1704924" cy="149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5" title="beats.jpg"/>
          <p:cNvPicPr preferRelativeResize="0"/>
          <p:nvPr/>
        </p:nvPicPr>
        <p:blipFill rotWithShape="1">
          <a:blip r:embed="rId4">
            <a:alphaModFix/>
          </a:blip>
          <a:srcRect b="0" l="17349" r="15092" t="0"/>
          <a:stretch/>
        </p:blipFill>
        <p:spPr>
          <a:xfrm flipH="1">
            <a:off x="4525050" y="15750"/>
            <a:ext cx="4618950" cy="512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5"/>
          <p:cNvPicPr preferRelativeResize="0"/>
          <p:nvPr/>
        </p:nvPicPr>
        <p:blipFill rotWithShape="1">
          <a:blip r:embed="rId5">
            <a:alphaModFix/>
          </a:blip>
          <a:srcRect b="17377" l="0" r="0" t="24310"/>
          <a:stretch/>
        </p:blipFill>
        <p:spPr>
          <a:xfrm>
            <a:off x="7733740" y="78075"/>
            <a:ext cx="1313035" cy="55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6195" y="84670"/>
            <a:ext cx="1357551" cy="54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6786" y="118524"/>
            <a:ext cx="374553" cy="47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0725" y="117724"/>
            <a:ext cx="1051840" cy="473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6"/>
          <p:cNvSpPr txBox="1"/>
          <p:nvPr>
            <p:ph idx="2" type="subTitle"/>
          </p:nvPr>
        </p:nvSpPr>
        <p:spPr>
          <a:xfrm>
            <a:off x="3154650" y="823172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487" name="Google Shape;487;p56"/>
          <p:cNvSpPr txBox="1"/>
          <p:nvPr>
            <p:ph type="title"/>
          </p:nvPr>
        </p:nvSpPr>
        <p:spPr>
          <a:xfrm>
            <a:off x="2371900" y="1066100"/>
            <a:ext cx="6544500" cy="25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System Isn’t Built for Small Agriculture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Industrial Farming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Barriers For People To Help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Lack Of Options</a:t>
            </a:r>
            <a:endParaRPr/>
          </a:p>
        </p:txBody>
      </p:sp>
      <p:pic>
        <p:nvPicPr>
          <p:cNvPr id="488" name="Google Shape;488;p56" title="lin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153400" y="1802375"/>
            <a:ext cx="4502175" cy="180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56" title="IMG_1544.PNG"/>
          <p:cNvPicPr preferRelativeResize="0"/>
          <p:nvPr/>
        </p:nvPicPr>
        <p:blipFill rotWithShape="1">
          <a:blip r:embed="rId4">
            <a:alphaModFix/>
          </a:blip>
          <a:srcRect b="18716" l="19262" r="19586" t="18477"/>
          <a:stretch/>
        </p:blipFill>
        <p:spPr>
          <a:xfrm>
            <a:off x="6802800" y="3612793"/>
            <a:ext cx="2329799" cy="1595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"/>
          <p:cNvSpPr/>
          <p:nvPr/>
        </p:nvSpPr>
        <p:spPr>
          <a:xfrm>
            <a:off x="5402575" y="3129600"/>
            <a:ext cx="3739800" cy="2013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5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57"/>
          <p:cNvSpPr txBox="1"/>
          <p:nvPr>
            <p:ph idx="1" type="subTitle"/>
          </p:nvPr>
        </p:nvSpPr>
        <p:spPr>
          <a:xfrm>
            <a:off x="833225" y="1590048"/>
            <a:ext cx="3974700" cy="7989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6"/>
              <a:t>Local HUBs: Disconnected &amp; Under-Resourced</a:t>
            </a:r>
            <a:endParaRPr sz="2226"/>
          </a:p>
        </p:txBody>
      </p:sp>
      <p:sp>
        <p:nvSpPr>
          <p:cNvPr id="497" name="Google Shape;497;p57"/>
          <p:cNvSpPr txBox="1"/>
          <p:nvPr>
            <p:ph type="title"/>
          </p:nvPr>
        </p:nvSpPr>
        <p:spPr>
          <a:xfrm>
            <a:off x="361975" y="988550"/>
            <a:ext cx="4297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The People Behind the Problem</a:t>
            </a:r>
            <a:endParaRPr u="sng"/>
          </a:p>
        </p:txBody>
      </p:sp>
      <p:sp>
        <p:nvSpPr>
          <p:cNvPr id="498" name="Google Shape;498;p5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</a:t>
            </a:r>
            <a:endParaRPr/>
          </a:p>
        </p:txBody>
      </p:sp>
      <p:sp>
        <p:nvSpPr>
          <p:cNvPr id="499" name="Google Shape;499;p5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sp>
        <p:nvSpPr>
          <p:cNvPr id="500" name="Google Shape;500;p57"/>
          <p:cNvSpPr txBox="1"/>
          <p:nvPr>
            <p:ph idx="6" type="subTitle"/>
          </p:nvPr>
        </p:nvSpPr>
        <p:spPr>
          <a:xfrm>
            <a:off x="5480400" y="3129600"/>
            <a:ext cx="3360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 segments</a:t>
            </a:r>
            <a:endParaRPr/>
          </a:p>
        </p:txBody>
      </p:sp>
      <p:sp>
        <p:nvSpPr>
          <p:cNvPr id="501" name="Google Shape;501;p57"/>
          <p:cNvSpPr txBox="1"/>
          <p:nvPr>
            <p:ph idx="7" type="subTitle"/>
          </p:nvPr>
        </p:nvSpPr>
        <p:spPr>
          <a:xfrm>
            <a:off x="833225" y="3757738"/>
            <a:ext cx="3974700" cy="7989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6"/>
              <a:t>Buyers </a:t>
            </a:r>
            <a:r>
              <a:rPr lang="en" sz="2226"/>
              <a:t>demand is real—but the systems fail them</a:t>
            </a:r>
            <a:endParaRPr sz="2226"/>
          </a:p>
        </p:txBody>
      </p:sp>
      <p:sp>
        <p:nvSpPr>
          <p:cNvPr id="502" name="Google Shape;502;p57"/>
          <p:cNvSpPr txBox="1"/>
          <p:nvPr>
            <p:ph idx="9" type="subTitle"/>
          </p:nvPr>
        </p:nvSpPr>
        <p:spPr>
          <a:xfrm>
            <a:off x="833225" y="2693720"/>
            <a:ext cx="3974700" cy="876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6"/>
              <a:t>Juggling many suppliers &amp; tools manually</a:t>
            </a:r>
            <a:endParaRPr sz="2226"/>
          </a:p>
        </p:txBody>
      </p:sp>
      <p:sp>
        <p:nvSpPr>
          <p:cNvPr id="503" name="Google Shape;503;p57"/>
          <p:cNvSpPr txBox="1"/>
          <p:nvPr>
            <p:ph idx="14" type="body"/>
          </p:nvPr>
        </p:nvSpPr>
        <p:spPr>
          <a:xfrm>
            <a:off x="5577225" y="3483000"/>
            <a:ext cx="3566700" cy="15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r>
              <a:rPr lang="en" sz="1600"/>
              <a:t>Community</a:t>
            </a:r>
            <a:r>
              <a:rPr lang="en" sz="1600"/>
              <a:t> Service </a:t>
            </a:r>
            <a:r>
              <a:rPr lang="en" sz="1600"/>
              <a:t>Agriculture</a:t>
            </a:r>
            <a:r>
              <a:rPr lang="en" sz="1600"/>
              <a:t> (CSA)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Delivers</a:t>
            </a:r>
            <a:r>
              <a:rPr lang="en" sz="1600"/>
              <a:t> SSL to </a:t>
            </a:r>
            <a:r>
              <a:rPr lang="en" sz="1600"/>
              <a:t>subscribers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Farmers’ Markets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Payed vendor fees to sell at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SSL Grocery Stores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Only source from SSL producer</a:t>
            </a:r>
            <a:endParaRPr sz="1600"/>
          </a:p>
        </p:txBody>
      </p:sp>
      <p:cxnSp>
        <p:nvCxnSpPr>
          <p:cNvPr id="504" name="Google Shape;504;p57"/>
          <p:cNvCxnSpPr/>
          <p:nvPr/>
        </p:nvCxnSpPr>
        <p:spPr>
          <a:xfrm>
            <a:off x="448432" y="1766088"/>
            <a:ext cx="0" cy="2790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57"/>
          <p:cNvSpPr/>
          <p:nvPr/>
        </p:nvSpPr>
        <p:spPr>
          <a:xfrm rot="2705778">
            <a:off x="388160" y="1654955"/>
            <a:ext cx="126219" cy="1262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1"/>
          </a:p>
        </p:txBody>
      </p:sp>
      <p:sp>
        <p:nvSpPr>
          <p:cNvPr id="506" name="Google Shape;506;p57"/>
          <p:cNvSpPr/>
          <p:nvPr/>
        </p:nvSpPr>
        <p:spPr>
          <a:xfrm rot="2705778">
            <a:off x="388160" y="2737309"/>
            <a:ext cx="126219" cy="1262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1"/>
          </a:p>
        </p:txBody>
      </p:sp>
      <p:sp>
        <p:nvSpPr>
          <p:cNvPr id="507" name="Google Shape;507;p57"/>
          <p:cNvSpPr/>
          <p:nvPr/>
        </p:nvSpPr>
        <p:spPr>
          <a:xfrm rot="2705778">
            <a:off x="388160" y="3819683"/>
            <a:ext cx="126219" cy="1262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31"/>
          </a:p>
        </p:txBody>
      </p:sp>
      <p:pic>
        <p:nvPicPr>
          <p:cNvPr id="508" name="Google Shape;508;p57" title="fruit.jpg"/>
          <p:cNvPicPr preferRelativeResize="0"/>
          <p:nvPr/>
        </p:nvPicPr>
        <p:blipFill rotWithShape="1">
          <a:blip r:embed="rId3">
            <a:alphaModFix/>
          </a:blip>
          <a:srcRect b="0" l="23359" r="8357" t="0"/>
          <a:stretch/>
        </p:blipFill>
        <p:spPr>
          <a:xfrm>
            <a:off x="5404200" y="0"/>
            <a:ext cx="3739800" cy="31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7" title="IMG_1548.PNG"/>
          <p:cNvPicPr preferRelativeResize="0"/>
          <p:nvPr/>
        </p:nvPicPr>
        <p:blipFill rotWithShape="1">
          <a:blip r:embed="rId4">
            <a:alphaModFix/>
          </a:blip>
          <a:srcRect b="51105" l="71450" r="13917" t="30305"/>
          <a:stretch/>
        </p:blipFill>
        <p:spPr>
          <a:xfrm>
            <a:off x="0" y="4699825"/>
            <a:ext cx="523801" cy="4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57" title="IMG_1548.PNG"/>
          <p:cNvPicPr preferRelativeResize="0"/>
          <p:nvPr/>
        </p:nvPicPr>
        <p:blipFill rotWithShape="1">
          <a:blip r:embed="rId4">
            <a:alphaModFix/>
          </a:blip>
          <a:srcRect b="31574" l="70552" r="14816" t="49835"/>
          <a:stretch/>
        </p:blipFill>
        <p:spPr>
          <a:xfrm>
            <a:off x="133150" y="4814700"/>
            <a:ext cx="523801" cy="44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8"/>
          <p:cNvSpPr txBox="1"/>
          <p:nvPr>
            <p:ph type="title"/>
          </p:nvPr>
        </p:nvSpPr>
        <p:spPr>
          <a:xfrm>
            <a:off x="361975" y="988550"/>
            <a:ext cx="5356800" cy="415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Future Where Local Agriculture Competes at Scale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Local businesses with big-league logistics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Modular, open tools—zero subscriptions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en"/>
              <a:t>A future where digital ecosystems belong to everyone</a:t>
            </a:r>
            <a:endParaRPr/>
          </a:p>
        </p:txBody>
      </p:sp>
      <p:sp>
        <p:nvSpPr>
          <p:cNvPr id="516" name="Google Shape;516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5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cxnSp>
        <p:nvCxnSpPr>
          <p:cNvPr id="518" name="Google Shape;518;p58"/>
          <p:cNvCxnSpPr/>
          <p:nvPr/>
        </p:nvCxnSpPr>
        <p:spPr>
          <a:xfrm>
            <a:off x="356100" y="49101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9" name="Google Shape;519;p58" title="bocage2.jpg"/>
          <p:cNvPicPr preferRelativeResize="0"/>
          <p:nvPr/>
        </p:nvPicPr>
        <p:blipFill rotWithShape="1">
          <a:blip r:embed="rId3">
            <a:alphaModFix/>
          </a:blip>
          <a:srcRect b="0" l="28876" r="15226" t="0"/>
          <a:stretch/>
        </p:blipFill>
        <p:spPr>
          <a:xfrm>
            <a:off x="6279925" y="1726100"/>
            <a:ext cx="2864075" cy="34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8" title="IMG_1548.PNG"/>
          <p:cNvPicPr preferRelativeResize="0"/>
          <p:nvPr/>
        </p:nvPicPr>
        <p:blipFill rotWithShape="1">
          <a:blip r:embed="rId4">
            <a:alphaModFix/>
          </a:blip>
          <a:srcRect b="48031" l="17204" r="70528" t="33379"/>
          <a:stretch/>
        </p:blipFill>
        <p:spPr>
          <a:xfrm>
            <a:off x="4933550" y="4310700"/>
            <a:ext cx="785226" cy="7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8"/>
          <p:cNvSpPr txBox="1"/>
          <p:nvPr>
            <p:ph idx="3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VISION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/>
          <p:nvPr/>
        </p:nvSpPr>
        <p:spPr>
          <a:xfrm>
            <a:off x="2779500" y="0"/>
            <a:ext cx="3210000" cy="1832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91425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7" name="Google Shape;527;p59"/>
          <p:cNvSpPr/>
          <p:nvPr/>
        </p:nvSpPr>
        <p:spPr>
          <a:xfrm>
            <a:off x="5713525" y="0"/>
            <a:ext cx="3430500" cy="183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8" name="Google Shape;528;p5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sp>
        <p:nvSpPr>
          <p:cNvPr id="529" name="Google Shape;529;p59"/>
          <p:cNvSpPr txBox="1"/>
          <p:nvPr>
            <p:ph type="title"/>
          </p:nvPr>
        </p:nvSpPr>
        <p:spPr>
          <a:xfrm>
            <a:off x="361975" y="988550"/>
            <a:ext cx="2417400" cy="12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FDN’s Framework: Built for Hubs, Powered by Connection</a:t>
            </a:r>
            <a:endParaRPr/>
          </a:p>
        </p:txBody>
      </p:sp>
      <p:sp>
        <p:nvSpPr>
          <p:cNvPr id="530" name="Google Shape;530;p59"/>
          <p:cNvSpPr txBox="1"/>
          <p:nvPr>
            <p:ph idx="2" type="subTitle"/>
          </p:nvPr>
        </p:nvSpPr>
        <p:spPr>
          <a:xfrm>
            <a:off x="361975" y="732775"/>
            <a:ext cx="7449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531" name="Google Shape;531;p59"/>
          <p:cNvSpPr txBox="1"/>
          <p:nvPr/>
        </p:nvSpPr>
        <p:spPr>
          <a:xfrm>
            <a:off x="2882925" y="124225"/>
            <a:ext cx="2919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Organize Internally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574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SemiBold"/>
              <a:buChar char="→"/>
            </a:pPr>
            <a:r>
              <a:rPr lang="en" sz="18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Websites, Shipping, POS, or Inventory; </a:t>
            </a:r>
            <a:endParaRPr sz="1800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Then connect externally</a:t>
            </a:r>
            <a:endParaRPr sz="1800">
              <a:solidFill>
                <a:schemeClr val="dk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cxnSp>
        <p:nvCxnSpPr>
          <p:cNvPr id="532" name="Google Shape;532;p59"/>
          <p:cNvCxnSpPr/>
          <p:nvPr/>
        </p:nvCxnSpPr>
        <p:spPr>
          <a:xfrm>
            <a:off x="2882925" y="555175"/>
            <a:ext cx="576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59"/>
          <p:cNvCxnSpPr/>
          <p:nvPr/>
        </p:nvCxnSpPr>
        <p:spPr>
          <a:xfrm>
            <a:off x="4571075" y="1837275"/>
            <a:ext cx="6900" cy="329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4" name="Google Shape;534;p59" title="unnamed.jpg"/>
          <p:cNvPicPr preferRelativeResize="0"/>
          <p:nvPr/>
        </p:nvPicPr>
        <p:blipFill rotWithShape="1">
          <a:blip r:embed="rId3">
            <a:alphaModFix/>
          </a:blip>
          <a:srcRect b="0" l="0" r="50044" t="0"/>
          <a:stretch/>
        </p:blipFill>
        <p:spPr>
          <a:xfrm rot="-5400000">
            <a:off x="5720425" y="2360401"/>
            <a:ext cx="2261391" cy="3200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9" title="unnamed.jpg"/>
          <p:cNvPicPr preferRelativeResize="0"/>
          <p:nvPr/>
        </p:nvPicPr>
        <p:blipFill rotWithShape="1">
          <a:blip r:embed="rId3">
            <a:alphaModFix/>
          </a:blip>
          <a:srcRect b="0" l="49290" r="754" t="0"/>
          <a:stretch/>
        </p:blipFill>
        <p:spPr>
          <a:xfrm rot="-5400000">
            <a:off x="1148378" y="2352456"/>
            <a:ext cx="2267996" cy="32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9"/>
          <p:cNvSpPr txBox="1"/>
          <p:nvPr/>
        </p:nvSpPr>
        <p:spPr>
          <a:xfrm>
            <a:off x="1703901" y="2361825"/>
            <a:ext cx="115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Before</a:t>
            </a:r>
            <a:endParaRPr b="1" sz="200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59"/>
          <p:cNvSpPr txBox="1"/>
          <p:nvPr/>
        </p:nvSpPr>
        <p:spPr>
          <a:xfrm>
            <a:off x="6271444" y="2361825"/>
            <a:ext cx="11592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875" lIns="101875" spcFirstLastPara="1" rIns="101875" wrap="square" tIns="10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5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After</a:t>
            </a:r>
            <a:endParaRPr b="1" sz="2005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59"/>
          <p:cNvSpPr txBox="1"/>
          <p:nvPr/>
        </p:nvSpPr>
        <p:spPr>
          <a:xfrm>
            <a:off x="6079300" y="124225"/>
            <a:ext cx="2919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Open-source:</a:t>
            </a:r>
            <a:endParaRPr b="1" sz="18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574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 SemiBold"/>
              <a:buChar char="→"/>
            </a:pPr>
            <a:r>
              <a:rPr lang="en" sz="18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You own it</a:t>
            </a:r>
            <a:endParaRPr sz="18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20574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 SemiBold"/>
              <a:buChar char="→"/>
            </a:pPr>
            <a:r>
              <a:rPr lang="en" sz="18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We tailor it</a:t>
            </a:r>
            <a:endParaRPr sz="18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-205740" lvl="0" marL="1828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 SemiBold"/>
              <a:buChar char="→"/>
            </a:pPr>
            <a:r>
              <a:rPr lang="en" sz="1800">
                <a:solidFill>
                  <a:schemeClr val="lt1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No lock-in</a:t>
            </a:r>
            <a:endParaRPr sz="18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39" name="Google Shape;539;p59" title="IMG_1548.PNG"/>
          <p:cNvPicPr preferRelativeResize="0"/>
          <p:nvPr/>
        </p:nvPicPr>
        <p:blipFill rotWithShape="1">
          <a:blip r:embed="rId4">
            <a:alphaModFix/>
          </a:blip>
          <a:srcRect b="66620" l="2699" r="84066" t="14791"/>
          <a:stretch/>
        </p:blipFill>
        <p:spPr>
          <a:xfrm>
            <a:off x="8381675" y="1480675"/>
            <a:ext cx="443301" cy="4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4" name="Google Shape;544;p60"/>
          <p:cNvCxnSpPr/>
          <p:nvPr/>
        </p:nvCxnSpPr>
        <p:spPr>
          <a:xfrm>
            <a:off x="6849550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60"/>
          <p:cNvCxnSpPr/>
          <p:nvPr/>
        </p:nvCxnSpPr>
        <p:spPr>
          <a:xfrm>
            <a:off x="4565474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60"/>
          <p:cNvCxnSpPr/>
          <p:nvPr/>
        </p:nvCxnSpPr>
        <p:spPr>
          <a:xfrm>
            <a:off x="2286118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6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sp>
        <p:nvSpPr>
          <p:cNvPr id="549" name="Google Shape;549;p60"/>
          <p:cNvSpPr txBox="1"/>
          <p:nvPr>
            <p:ph type="title"/>
          </p:nvPr>
        </p:nvSpPr>
        <p:spPr>
          <a:xfrm>
            <a:off x="1406600" y="988546"/>
            <a:ext cx="6330900" cy="9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Decentralized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Tools</a:t>
            </a:r>
            <a:r>
              <a:rPr lang="en"/>
              <a:t> That Drive Local </a:t>
            </a:r>
            <a:r>
              <a:rPr lang="en">
                <a:solidFill>
                  <a:schemeClr val="accent1"/>
                </a:solidFill>
              </a:rPr>
              <a:t>Efficiency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50" name="Google Shape;550;p60" title="IMG_1548.PNG"/>
          <p:cNvPicPr preferRelativeResize="0"/>
          <p:nvPr/>
        </p:nvPicPr>
        <p:blipFill rotWithShape="1">
          <a:blip r:embed="rId3">
            <a:alphaModFix/>
          </a:blip>
          <a:srcRect b="65246" l="57135" r="28233" t="16163"/>
          <a:stretch/>
        </p:blipFill>
        <p:spPr>
          <a:xfrm>
            <a:off x="8043885" y="1129430"/>
            <a:ext cx="732795" cy="6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60"/>
          <p:cNvSpPr txBox="1"/>
          <p:nvPr>
            <p:ph idx="17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PROPOSITION</a:t>
            </a:r>
            <a:endParaRPr/>
          </a:p>
        </p:txBody>
      </p:sp>
      <p:sp>
        <p:nvSpPr>
          <p:cNvPr id="552" name="Google Shape;552;p60"/>
          <p:cNvSpPr/>
          <p:nvPr/>
        </p:nvSpPr>
        <p:spPr>
          <a:xfrm>
            <a:off x="2286118" y="1569225"/>
            <a:ext cx="2294400" cy="339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3" name="Google Shape;553;p60"/>
          <p:cNvSpPr/>
          <p:nvPr/>
        </p:nvSpPr>
        <p:spPr>
          <a:xfrm>
            <a:off x="4565474" y="1569225"/>
            <a:ext cx="2294400" cy="339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4" name="Google Shape;554;p60"/>
          <p:cNvSpPr/>
          <p:nvPr/>
        </p:nvSpPr>
        <p:spPr>
          <a:xfrm>
            <a:off x="50" y="1569225"/>
            <a:ext cx="2294400" cy="339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5" name="Google Shape;555;p60"/>
          <p:cNvSpPr/>
          <p:nvPr/>
        </p:nvSpPr>
        <p:spPr>
          <a:xfrm>
            <a:off x="6849550" y="1569225"/>
            <a:ext cx="2294400" cy="3393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56" name="Google Shape;556;p60"/>
          <p:cNvSpPr txBox="1"/>
          <p:nvPr>
            <p:ph idx="5" type="body"/>
          </p:nvPr>
        </p:nvSpPr>
        <p:spPr>
          <a:xfrm>
            <a:off x="4892150" y="2634951"/>
            <a:ext cx="16458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Connect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Bureaus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Unions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Foundations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Suppliers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Business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Consumers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57" name="Google Shape;557;p60"/>
          <p:cNvSpPr txBox="1"/>
          <p:nvPr>
            <p:ph idx="8" type="body"/>
          </p:nvPr>
        </p:nvSpPr>
        <p:spPr>
          <a:xfrm>
            <a:off x="2607050" y="2655525"/>
            <a:ext cx="1645800" cy="19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Get </a:t>
            </a:r>
            <a:r>
              <a:rPr lang="en" sz="1300"/>
              <a:t>P</a:t>
            </a:r>
            <a:r>
              <a:rPr lang="en" sz="1300"/>
              <a:t>redictive Insights 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</a:t>
            </a:r>
            <a:r>
              <a:rPr lang="en" sz="1300"/>
              <a:t>aste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Margins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Trends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Or </a:t>
            </a:r>
            <a:r>
              <a:rPr lang="en" sz="1300"/>
              <a:t>Plan with past data. </a:t>
            </a:r>
            <a:endParaRPr sz="1300"/>
          </a:p>
        </p:txBody>
      </p:sp>
      <p:sp>
        <p:nvSpPr>
          <p:cNvPr id="558" name="Google Shape;558;p60"/>
          <p:cNvSpPr txBox="1"/>
          <p:nvPr>
            <p:ph idx="6" type="subTitle"/>
          </p:nvPr>
        </p:nvSpPr>
        <p:spPr>
          <a:xfrm>
            <a:off x="4892138" y="1743896"/>
            <a:ext cx="1645800" cy="22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59" name="Google Shape;559;p60"/>
          <p:cNvSpPr txBox="1"/>
          <p:nvPr>
            <p:ph idx="2" type="body"/>
          </p:nvPr>
        </p:nvSpPr>
        <p:spPr>
          <a:xfrm>
            <a:off x="7130875" y="2655500"/>
            <a:ext cx="16458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React to sudden changes in the </a:t>
            </a:r>
            <a:r>
              <a:rPr lang="en" sz="1300"/>
              <a:t>business</a:t>
            </a:r>
            <a:r>
              <a:rPr lang="en" sz="1300"/>
              <a:t> landscape </a:t>
            </a:r>
            <a:r>
              <a:rPr lang="en" sz="1300"/>
              <a:t>with chain protocol.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Enables growth later</a:t>
            </a:r>
            <a:r>
              <a:rPr lang="en" sz="1300"/>
              <a:t>. Add </a:t>
            </a:r>
            <a:r>
              <a:rPr lang="en" sz="1300"/>
              <a:t>functionality like bar codes.</a:t>
            </a:r>
            <a:endParaRPr sz="1300"/>
          </a:p>
        </p:txBody>
      </p:sp>
      <p:sp>
        <p:nvSpPr>
          <p:cNvPr id="560" name="Google Shape;560;p60"/>
          <p:cNvSpPr txBox="1"/>
          <p:nvPr>
            <p:ph idx="3" type="subTitle"/>
          </p:nvPr>
        </p:nvSpPr>
        <p:spPr>
          <a:xfrm>
            <a:off x="7130875" y="1743896"/>
            <a:ext cx="1645800" cy="22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1" name="Google Shape;561;p60"/>
          <p:cNvSpPr txBox="1"/>
          <p:nvPr>
            <p:ph idx="14" type="body"/>
          </p:nvPr>
        </p:nvSpPr>
        <p:spPr>
          <a:xfrm>
            <a:off x="361975" y="2655525"/>
            <a:ext cx="1645800" cy="186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Use Simple Tools To Automate &amp; Integrate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Inventory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</a:t>
            </a:r>
            <a:r>
              <a:rPr lang="en" sz="1300"/>
              <a:t>upply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O</a:t>
            </a:r>
            <a:r>
              <a:rPr lang="en" sz="1300"/>
              <a:t>rders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Delivery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</a:t>
            </a:r>
            <a:r>
              <a:rPr lang="en" sz="1300"/>
              <a:t>chedules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Reports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Or Design for a team</a:t>
            </a:r>
            <a:endParaRPr sz="1300"/>
          </a:p>
        </p:txBody>
      </p:sp>
      <p:sp>
        <p:nvSpPr>
          <p:cNvPr id="562" name="Google Shape;562;p60"/>
          <p:cNvSpPr txBox="1"/>
          <p:nvPr>
            <p:ph idx="7" type="subTitle"/>
          </p:nvPr>
        </p:nvSpPr>
        <p:spPr>
          <a:xfrm>
            <a:off x="4892150" y="2046794"/>
            <a:ext cx="1645800" cy="6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NETWORK </a:t>
            </a:r>
            <a:endParaRPr sz="2400"/>
          </a:p>
        </p:txBody>
      </p:sp>
      <p:sp>
        <p:nvSpPr>
          <p:cNvPr id="563" name="Google Shape;563;p60"/>
          <p:cNvSpPr txBox="1"/>
          <p:nvPr>
            <p:ph idx="4" type="subTitle"/>
          </p:nvPr>
        </p:nvSpPr>
        <p:spPr>
          <a:xfrm>
            <a:off x="7130875" y="2046824"/>
            <a:ext cx="1645800" cy="6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Adapt</a:t>
            </a:r>
            <a:endParaRPr sz="2400"/>
          </a:p>
        </p:txBody>
      </p:sp>
      <p:sp>
        <p:nvSpPr>
          <p:cNvPr id="564" name="Google Shape;564;p60"/>
          <p:cNvSpPr txBox="1"/>
          <p:nvPr>
            <p:ph idx="9" type="subTitle"/>
          </p:nvPr>
        </p:nvSpPr>
        <p:spPr>
          <a:xfrm>
            <a:off x="2607050" y="1743896"/>
            <a:ext cx="1645800" cy="22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65" name="Google Shape;565;p60"/>
          <p:cNvSpPr txBox="1"/>
          <p:nvPr>
            <p:ph idx="13" type="subTitle"/>
          </p:nvPr>
        </p:nvSpPr>
        <p:spPr>
          <a:xfrm>
            <a:off x="2607050" y="2046800"/>
            <a:ext cx="1645800" cy="6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INSIGHTS</a:t>
            </a:r>
            <a:endParaRPr sz="2400"/>
          </a:p>
        </p:txBody>
      </p:sp>
      <p:sp>
        <p:nvSpPr>
          <p:cNvPr id="566" name="Google Shape;566;p60"/>
          <p:cNvSpPr txBox="1"/>
          <p:nvPr>
            <p:ph idx="15" type="subTitle"/>
          </p:nvPr>
        </p:nvSpPr>
        <p:spPr>
          <a:xfrm>
            <a:off x="361975" y="1743896"/>
            <a:ext cx="1645800" cy="22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7" name="Google Shape;567;p60"/>
          <p:cNvSpPr txBox="1"/>
          <p:nvPr>
            <p:ph idx="16" type="subTitle"/>
          </p:nvPr>
        </p:nvSpPr>
        <p:spPr>
          <a:xfrm>
            <a:off x="361975" y="2046793"/>
            <a:ext cx="1645800" cy="60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TOOLS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/>
          <p:nvPr/>
        </p:nvSpPr>
        <p:spPr>
          <a:xfrm>
            <a:off x="4337675" y="0"/>
            <a:ext cx="4806300" cy="2476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3" name="Google Shape;573;p61"/>
          <p:cNvSpPr/>
          <p:nvPr/>
        </p:nvSpPr>
        <p:spPr>
          <a:xfrm>
            <a:off x="-6525" y="2732650"/>
            <a:ext cx="4531500" cy="241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4" name="Google Shape;574;p6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sp>
        <p:nvSpPr>
          <p:cNvPr id="575" name="Google Shape;575;p61"/>
          <p:cNvSpPr txBox="1"/>
          <p:nvPr>
            <p:ph type="title"/>
          </p:nvPr>
        </p:nvSpPr>
        <p:spPr>
          <a:xfrm>
            <a:off x="361975" y="988550"/>
            <a:ext cx="32739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$70 Billion Gap in Local Agricultural Efficiency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&amp; A</a:t>
            </a:r>
            <a:r>
              <a:rPr lang="en">
                <a:solidFill>
                  <a:schemeClr val="accent1"/>
                </a:solidFill>
              </a:rPr>
              <a:t> Disruptive Model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76" name="Google Shape;576;p61"/>
          <p:cNvSpPr txBox="1"/>
          <p:nvPr>
            <p:ph idx="2" type="subTitle"/>
          </p:nvPr>
        </p:nvSpPr>
        <p:spPr>
          <a:xfrm>
            <a:off x="361975" y="732775"/>
            <a:ext cx="3860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</a:t>
            </a:r>
            <a:endParaRPr/>
          </a:p>
        </p:txBody>
      </p:sp>
      <p:sp>
        <p:nvSpPr>
          <p:cNvPr id="577" name="Google Shape;577;p61"/>
          <p:cNvSpPr txBox="1"/>
          <p:nvPr>
            <p:ph idx="6" type="title"/>
          </p:nvPr>
        </p:nvSpPr>
        <p:spPr>
          <a:xfrm>
            <a:off x="381225" y="3539093"/>
            <a:ext cx="1609800" cy="783000"/>
          </a:xfrm>
          <a:prstGeom prst="rect">
            <a:avLst/>
          </a:prstGeom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7.4 B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578" name="Google Shape;578;p61"/>
          <p:cNvSpPr txBox="1"/>
          <p:nvPr>
            <p:ph idx="9" type="body"/>
          </p:nvPr>
        </p:nvSpPr>
        <p:spPr>
          <a:xfrm>
            <a:off x="2273550" y="2927139"/>
            <a:ext cx="1762200" cy="20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lt1"/>
                </a:solidFill>
              </a:rPr>
              <a:t>TAM</a:t>
            </a:r>
            <a:r>
              <a:rPr lang="en" sz="1800">
                <a:solidFill>
                  <a:schemeClr val="lt1"/>
                </a:solidFill>
              </a:rPr>
              <a:t>: Total US market </a:t>
            </a:r>
            <a:r>
              <a:rPr lang="en" sz="1800">
                <a:solidFill>
                  <a:schemeClr val="lt1"/>
                </a:solidFill>
              </a:rPr>
              <a:t>annually</a:t>
            </a:r>
            <a:r>
              <a:rPr lang="en" sz="1800">
                <a:solidFill>
                  <a:schemeClr val="lt1"/>
                </a:solidFill>
              </a:rPr>
              <a:t> has ~70 Billion in losses.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 10% share of </a:t>
            </a:r>
            <a:r>
              <a:rPr lang="en" sz="1800">
                <a:solidFill>
                  <a:schemeClr val="lt1"/>
                </a:solidFill>
              </a:rPr>
              <a:t>recoup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579" name="Google Shape;579;p61"/>
          <p:cNvSpPr txBox="1"/>
          <p:nvPr>
            <p:ph idx="14" type="body"/>
          </p:nvPr>
        </p:nvSpPr>
        <p:spPr>
          <a:xfrm>
            <a:off x="7036500" y="257525"/>
            <a:ext cx="1819200" cy="1695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accent5"/>
                </a:solidFill>
              </a:rPr>
              <a:t>SOM</a:t>
            </a:r>
            <a:r>
              <a:rPr lang="en" sz="1800">
                <a:solidFill>
                  <a:schemeClr val="accent5"/>
                </a:solidFill>
              </a:rPr>
              <a:t>: Given a developmental </a:t>
            </a:r>
            <a:r>
              <a:rPr lang="en" sz="1800">
                <a:solidFill>
                  <a:schemeClr val="accent5"/>
                </a:solidFill>
              </a:rPr>
              <a:t>period, FDN could serve a market of NE Ohio Counties</a:t>
            </a:r>
            <a:endParaRPr sz="1800">
              <a:solidFill>
                <a:schemeClr val="accent5"/>
              </a:solidFill>
            </a:endParaRPr>
          </a:p>
        </p:txBody>
      </p:sp>
      <p:pic>
        <p:nvPicPr>
          <p:cNvPr id="580" name="Google Shape;580;p61" title="IMG_1548.PNG"/>
          <p:cNvPicPr preferRelativeResize="0"/>
          <p:nvPr/>
        </p:nvPicPr>
        <p:blipFill rotWithShape="1">
          <a:blip r:embed="rId3">
            <a:alphaModFix/>
          </a:blip>
          <a:srcRect b="65467" l="14840" r="70528" t="14790"/>
          <a:stretch/>
        </p:blipFill>
        <p:spPr>
          <a:xfrm>
            <a:off x="-12" y="4712238"/>
            <a:ext cx="523801" cy="471174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61"/>
          <p:cNvSpPr txBox="1"/>
          <p:nvPr>
            <p:ph idx="6" type="title"/>
          </p:nvPr>
        </p:nvSpPr>
        <p:spPr>
          <a:xfrm>
            <a:off x="4856326" y="719750"/>
            <a:ext cx="1680600" cy="69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5"/>
                </a:solidFill>
              </a:rPr>
              <a:t>2.8</a:t>
            </a:r>
            <a:r>
              <a:rPr lang="en" sz="5000">
                <a:solidFill>
                  <a:schemeClr val="accent5"/>
                </a:solidFill>
              </a:rPr>
              <a:t> M</a:t>
            </a:r>
            <a:endParaRPr sz="5000">
              <a:solidFill>
                <a:schemeClr val="accent5"/>
              </a:solidFill>
            </a:endParaRPr>
          </a:p>
        </p:txBody>
      </p:sp>
      <p:sp>
        <p:nvSpPr>
          <p:cNvPr id="582" name="Google Shape;582;p61"/>
          <p:cNvSpPr/>
          <p:nvPr/>
        </p:nvSpPr>
        <p:spPr>
          <a:xfrm>
            <a:off x="4748700" y="2813375"/>
            <a:ext cx="4401900" cy="233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3" name="Google Shape;583;p61"/>
          <p:cNvSpPr txBox="1"/>
          <p:nvPr>
            <p:ph idx="6" type="title"/>
          </p:nvPr>
        </p:nvSpPr>
        <p:spPr>
          <a:xfrm>
            <a:off x="5079606" y="3585604"/>
            <a:ext cx="1563900" cy="756900"/>
          </a:xfrm>
          <a:prstGeom prst="rect">
            <a:avLst/>
          </a:prstGeom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</a:rPr>
              <a:t>80 M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584" name="Google Shape;584;p61"/>
          <p:cNvSpPr txBox="1"/>
          <p:nvPr>
            <p:ph idx="9" type="body"/>
          </p:nvPr>
        </p:nvSpPr>
        <p:spPr>
          <a:xfrm>
            <a:off x="6869862" y="2994414"/>
            <a:ext cx="1994100" cy="19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800" u="sng"/>
              <a:t>SAM</a:t>
            </a:r>
            <a:r>
              <a:rPr lang="en" sz="1800"/>
              <a:t>: 2-5 years to serve Ohio’s market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800 Million lossed)</a:t>
            </a:r>
            <a:endParaRPr b="1" sz="1800" u="sng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2"/>
          <p:cNvSpPr/>
          <p:nvPr/>
        </p:nvSpPr>
        <p:spPr>
          <a:xfrm>
            <a:off x="-12000" y="1623150"/>
            <a:ext cx="9168000" cy="52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0" name="Google Shape;590;p62"/>
          <p:cNvSpPr/>
          <p:nvPr/>
        </p:nvSpPr>
        <p:spPr>
          <a:xfrm>
            <a:off x="-12000" y="2147525"/>
            <a:ext cx="9168000" cy="75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1" name="Google Shape;591;p62"/>
          <p:cNvSpPr/>
          <p:nvPr/>
        </p:nvSpPr>
        <p:spPr>
          <a:xfrm>
            <a:off x="-18500" y="2906750"/>
            <a:ext cx="9168000" cy="75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2" name="Google Shape;592;p62"/>
          <p:cNvSpPr/>
          <p:nvPr/>
        </p:nvSpPr>
        <p:spPr>
          <a:xfrm>
            <a:off x="-12000" y="3646400"/>
            <a:ext cx="9168000" cy="75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3" name="Google Shape;593;p62"/>
          <p:cNvSpPr/>
          <p:nvPr/>
        </p:nvSpPr>
        <p:spPr>
          <a:xfrm>
            <a:off x="-12000" y="4402100"/>
            <a:ext cx="9168000" cy="75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4" name="Google Shape;594;p62"/>
          <p:cNvSpPr txBox="1"/>
          <p:nvPr/>
        </p:nvSpPr>
        <p:spPr>
          <a:xfrm>
            <a:off x="1302395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Subscription</a:t>
            </a: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 free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95" name="Google Shape;595;p62"/>
          <p:cNvSpPr txBox="1"/>
          <p:nvPr/>
        </p:nvSpPr>
        <p:spPr>
          <a:xfrm>
            <a:off x="102475" y="3013650"/>
            <a:ext cx="1105500" cy="591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Delivery 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Biz</a:t>
            </a: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Pro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6" name="Google Shape;596;p6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62"/>
          <p:cNvSpPr txBox="1"/>
          <p:nvPr>
            <p:ph type="title"/>
          </p:nvPr>
        </p:nvSpPr>
        <p:spPr>
          <a:xfrm>
            <a:off x="361975" y="988550"/>
            <a:ext cx="76035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Only Open, Subscription Free, Scalable, Tailored Option</a:t>
            </a:r>
            <a:endParaRPr/>
          </a:p>
        </p:txBody>
      </p:sp>
      <p:sp>
        <p:nvSpPr>
          <p:cNvPr id="598" name="Google Shape;598;p62"/>
          <p:cNvSpPr txBox="1"/>
          <p:nvPr>
            <p:ph idx="1" type="subTitle"/>
          </p:nvPr>
        </p:nvSpPr>
        <p:spPr>
          <a:xfrm>
            <a:off x="361975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COMPETITION</a:t>
            </a:r>
            <a:endParaRPr/>
          </a:p>
        </p:txBody>
      </p:sp>
      <p:sp>
        <p:nvSpPr>
          <p:cNvPr id="599" name="Google Shape;599;p62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sp>
        <p:nvSpPr>
          <p:cNvPr id="600" name="Google Shape;600;p62"/>
          <p:cNvSpPr txBox="1"/>
          <p:nvPr/>
        </p:nvSpPr>
        <p:spPr>
          <a:xfrm>
            <a:off x="102475" y="2209025"/>
            <a:ext cx="1105500" cy="6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FDN’s Mycite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1" name="Google Shape;601;p62"/>
          <p:cNvSpPr txBox="1"/>
          <p:nvPr/>
        </p:nvSpPr>
        <p:spPr>
          <a:xfrm>
            <a:off x="2406124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Tailored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2" name="Google Shape;602;p62"/>
          <p:cNvSpPr txBox="1"/>
          <p:nvPr/>
        </p:nvSpPr>
        <p:spPr>
          <a:xfrm>
            <a:off x="3509852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3rrd party </a:t>
            </a: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Integratable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3" name="Google Shape;603;p62"/>
          <p:cNvSpPr txBox="1"/>
          <p:nvPr/>
        </p:nvSpPr>
        <p:spPr>
          <a:xfrm>
            <a:off x="4583129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Inventory POS </a:t>
            </a: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management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4" name="Google Shape;604;p62"/>
          <p:cNvSpPr txBox="1"/>
          <p:nvPr/>
        </p:nvSpPr>
        <p:spPr>
          <a:xfrm>
            <a:off x="5703718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management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5" name="Google Shape;605;p62"/>
          <p:cNvSpPr txBox="1"/>
          <p:nvPr/>
        </p:nvSpPr>
        <p:spPr>
          <a:xfrm>
            <a:off x="6811475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Team Sweet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6" name="Google Shape;606;p62"/>
          <p:cNvSpPr txBox="1"/>
          <p:nvPr/>
        </p:nvSpPr>
        <p:spPr>
          <a:xfrm>
            <a:off x="7872772" y="1676400"/>
            <a:ext cx="892500" cy="435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Website </a:t>
            </a:r>
            <a:r>
              <a:rPr lang="en" sz="9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integration</a:t>
            </a:r>
            <a:endParaRPr sz="9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7" name="Google Shape;607;p62"/>
          <p:cNvSpPr txBox="1"/>
          <p:nvPr/>
        </p:nvSpPr>
        <p:spPr>
          <a:xfrm>
            <a:off x="102475" y="3811375"/>
            <a:ext cx="1105500" cy="47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Shopify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8" name="Google Shape;608;p62"/>
          <p:cNvSpPr txBox="1"/>
          <p:nvPr/>
        </p:nvSpPr>
        <p:spPr>
          <a:xfrm>
            <a:off x="102625" y="4564844"/>
            <a:ext cx="1105500" cy="47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Laprendo</a:t>
            </a:r>
            <a:endParaRPr sz="16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9" name="Google Shape;609;p62"/>
          <p:cNvSpPr txBox="1"/>
          <p:nvPr/>
        </p:nvSpPr>
        <p:spPr>
          <a:xfrm>
            <a:off x="1379195" y="3829675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0" name="Google Shape;610;p62"/>
          <p:cNvSpPr txBox="1"/>
          <p:nvPr/>
        </p:nvSpPr>
        <p:spPr>
          <a:xfrm>
            <a:off x="1395095" y="4583144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62"/>
          <p:cNvSpPr txBox="1"/>
          <p:nvPr/>
        </p:nvSpPr>
        <p:spPr>
          <a:xfrm>
            <a:off x="1379195" y="3091650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2" name="Google Shape;612;p62"/>
          <p:cNvSpPr txBox="1"/>
          <p:nvPr/>
        </p:nvSpPr>
        <p:spPr>
          <a:xfrm>
            <a:off x="1395095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3" name="Google Shape;613;p62"/>
          <p:cNvSpPr txBox="1"/>
          <p:nvPr/>
        </p:nvSpPr>
        <p:spPr>
          <a:xfrm>
            <a:off x="5780518" y="4583144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4" name="Google Shape;614;p62"/>
          <p:cNvSpPr txBox="1"/>
          <p:nvPr/>
        </p:nvSpPr>
        <p:spPr>
          <a:xfrm>
            <a:off x="5780518" y="3829675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5" name="Google Shape;615;p62"/>
          <p:cNvSpPr txBox="1"/>
          <p:nvPr/>
        </p:nvSpPr>
        <p:spPr>
          <a:xfrm>
            <a:off x="6888275" y="3091650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6" name="Google Shape;616;p62"/>
          <p:cNvSpPr txBox="1"/>
          <p:nvPr/>
        </p:nvSpPr>
        <p:spPr>
          <a:xfrm>
            <a:off x="6888275" y="4583144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7" name="Google Shape;617;p62"/>
          <p:cNvSpPr txBox="1"/>
          <p:nvPr/>
        </p:nvSpPr>
        <p:spPr>
          <a:xfrm>
            <a:off x="7949572" y="3091650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8" name="Google Shape;618;p62"/>
          <p:cNvSpPr txBox="1"/>
          <p:nvPr/>
        </p:nvSpPr>
        <p:spPr>
          <a:xfrm>
            <a:off x="3586652" y="3091650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9" name="Google Shape;619;p62"/>
          <p:cNvSpPr txBox="1"/>
          <p:nvPr/>
        </p:nvSpPr>
        <p:spPr>
          <a:xfrm>
            <a:off x="2482924" y="4583144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0" name="Google Shape;620;p62"/>
          <p:cNvSpPr txBox="1"/>
          <p:nvPr/>
        </p:nvSpPr>
        <p:spPr>
          <a:xfrm>
            <a:off x="4659929" y="4583144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1" name="Google Shape;621;p62"/>
          <p:cNvSpPr txBox="1"/>
          <p:nvPr/>
        </p:nvSpPr>
        <p:spPr>
          <a:xfrm>
            <a:off x="6888275" y="3829675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2" name="Google Shape;622;p62"/>
          <p:cNvSpPr txBox="1"/>
          <p:nvPr/>
        </p:nvSpPr>
        <p:spPr>
          <a:xfrm>
            <a:off x="3586652" y="4583144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3" name="Google Shape;623;p62"/>
          <p:cNvSpPr txBox="1"/>
          <p:nvPr/>
        </p:nvSpPr>
        <p:spPr>
          <a:xfrm>
            <a:off x="3586652" y="3829675"/>
            <a:ext cx="7389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9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4" name="Google Shape;624;p62"/>
          <p:cNvSpPr txBox="1"/>
          <p:nvPr/>
        </p:nvSpPr>
        <p:spPr>
          <a:xfrm>
            <a:off x="2498824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62"/>
          <p:cNvSpPr txBox="1"/>
          <p:nvPr/>
        </p:nvSpPr>
        <p:spPr>
          <a:xfrm>
            <a:off x="3602552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6" name="Google Shape;626;p62"/>
          <p:cNvSpPr txBox="1"/>
          <p:nvPr/>
        </p:nvSpPr>
        <p:spPr>
          <a:xfrm>
            <a:off x="4675829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62"/>
          <p:cNvSpPr txBox="1"/>
          <p:nvPr/>
        </p:nvSpPr>
        <p:spPr>
          <a:xfrm>
            <a:off x="5796418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p62"/>
          <p:cNvSpPr txBox="1"/>
          <p:nvPr/>
        </p:nvSpPr>
        <p:spPr>
          <a:xfrm>
            <a:off x="6904175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62"/>
          <p:cNvSpPr txBox="1"/>
          <p:nvPr/>
        </p:nvSpPr>
        <p:spPr>
          <a:xfrm>
            <a:off x="7965472" y="231042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62"/>
          <p:cNvSpPr txBox="1"/>
          <p:nvPr/>
        </p:nvSpPr>
        <p:spPr>
          <a:xfrm>
            <a:off x="2498824" y="3091650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1" name="Google Shape;631;p62"/>
          <p:cNvSpPr txBox="1"/>
          <p:nvPr/>
        </p:nvSpPr>
        <p:spPr>
          <a:xfrm>
            <a:off x="4675829" y="3091650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62"/>
          <p:cNvSpPr txBox="1"/>
          <p:nvPr/>
        </p:nvSpPr>
        <p:spPr>
          <a:xfrm>
            <a:off x="5796418" y="3091650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62"/>
          <p:cNvSpPr txBox="1"/>
          <p:nvPr/>
        </p:nvSpPr>
        <p:spPr>
          <a:xfrm>
            <a:off x="2498824" y="382967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b="1" lang="en" sz="3000">
                <a:solidFill>
                  <a:srgbClr val="E65827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🗴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62"/>
          <p:cNvSpPr txBox="1"/>
          <p:nvPr/>
        </p:nvSpPr>
        <p:spPr>
          <a:xfrm>
            <a:off x="4675829" y="382967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62"/>
          <p:cNvSpPr txBox="1"/>
          <p:nvPr/>
        </p:nvSpPr>
        <p:spPr>
          <a:xfrm>
            <a:off x="7965472" y="4583144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62"/>
          <p:cNvSpPr txBox="1"/>
          <p:nvPr/>
        </p:nvSpPr>
        <p:spPr>
          <a:xfrm>
            <a:off x="7965472" y="3829675"/>
            <a:ext cx="7071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r>
              <a:rPr lang="en" sz="3000">
                <a:solidFill>
                  <a:srgbClr val="6AA84F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✔</a:t>
            </a:r>
            <a:r>
              <a:rPr lang="en" sz="1500">
                <a:solidFill>
                  <a:srgbClr val="FFF2CC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_</a:t>
            </a:r>
            <a:endParaRPr sz="1500">
              <a:solidFill>
                <a:srgbClr val="FFF2CC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62" title="IMG_1548.PNG"/>
          <p:cNvPicPr preferRelativeResize="0"/>
          <p:nvPr/>
        </p:nvPicPr>
        <p:blipFill rotWithShape="1">
          <a:blip r:embed="rId3">
            <a:alphaModFix/>
          </a:blip>
          <a:srcRect b="14390" l="2067" r="83301" t="65867"/>
          <a:stretch/>
        </p:blipFill>
        <p:spPr>
          <a:xfrm>
            <a:off x="100063" y="1661125"/>
            <a:ext cx="523801" cy="47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62" title="IMG_1548.PNG"/>
          <p:cNvPicPr preferRelativeResize="0"/>
          <p:nvPr/>
        </p:nvPicPr>
        <p:blipFill rotWithShape="1">
          <a:blip r:embed="rId3">
            <a:alphaModFix/>
          </a:blip>
          <a:srcRect b="49505" l="82963" r="2405" t="30752"/>
          <a:stretch/>
        </p:blipFill>
        <p:spPr>
          <a:xfrm>
            <a:off x="8620188" y="1221688"/>
            <a:ext cx="523801" cy="47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4" name="Google Shape;644;p63"/>
          <p:cNvSpPr/>
          <p:nvPr/>
        </p:nvSpPr>
        <p:spPr>
          <a:xfrm>
            <a:off x="1878600" y="-50"/>
            <a:ext cx="970500" cy="2775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5" name="Google Shape;645;p63"/>
          <p:cNvSpPr txBox="1"/>
          <p:nvPr>
            <p:ph idx="4294967295" type="subTitle"/>
          </p:nvPr>
        </p:nvSpPr>
        <p:spPr>
          <a:xfrm>
            <a:off x="23875" y="2470450"/>
            <a:ext cx="2286300" cy="23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 Year goals: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Pilot Client </a:t>
            </a:r>
            <a:r>
              <a:rPr lang="en" sz="1800"/>
              <a:t>D</a:t>
            </a:r>
            <a:r>
              <a:rPr lang="en" sz="1800"/>
              <a:t>eployment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USDA Pilot Study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Farmers </a:t>
            </a:r>
            <a:r>
              <a:rPr lang="en" sz="1800"/>
              <a:t>Bureau</a:t>
            </a:r>
            <a:r>
              <a:rPr lang="en" sz="1800"/>
              <a:t> &amp; local Gov. Partnership</a:t>
            </a:r>
            <a:endParaRPr sz="1800"/>
          </a:p>
        </p:txBody>
      </p:sp>
      <p:sp>
        <p:nvSpPr>
          <p:cNvPr id="646" name="Google Shape;646;p63"/>
          <p:cNvSpPr/>
          <p:nvPr/>
        </p:nvSpPr>
        <p:spPr>
          <a:xfrm>
            <a:off x="0" y="0"/>
            <a:ext cx="1878600" cy="2184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7" name="Google Shape;647;p6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Fruitful Network Development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8" name="Google Shape;648;p63"/>
          <p:cNvSpPr txBox="1"/>
          <p:nvPr/>
        </p:nvSpPr>
        <p:spPr>
          <a:xfrm>
            <a:off x="304800" y="609600"/>
            <a:ext cx="157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ROADMAP</a:t>
            </a:r>
            <a:endParaRPr sz="10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649" name="Google Shape;649;p63"/>
          <p:cNvSpPr/>
          <p:nvPr/>
        </p:nvSpPr>
        <p:spPr>
          <a:xfrm>
            <a:off x="2386325" y="0"/>
            <a:ext cx="67671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650" name="Google Shape;650;p63"/>
          <p:cNvGrpSpPr/>
          <p:nvPr/>
        </p:nvGrpSpPr>
        <p:grpSpPr>
          <a:xfrm>
            <a:off x="2672932" y="1542744"/>
            <a:ext cx="3385194" cy="1563443"/>
            <a:chOff x="2057206" y="1166296"/>
            <a:chExt cx="1379628" cy="842100"/>
          </a:xfrm>
        </p:grpSpPr>
        <p:sp>
          <p:nvSpPr>
            <p:cNvPr id="651" name="Google Shape;651;p63"/>
            <p:cNvSpPr/>
            <p:nvPr/>
          </p:nvSpPr>
          <p:spPr>
            <a:xfrm>
              <a:off x="2057206" y="1166296"/>
              <a:ext cx="656400" cy="842100"/>
            </a:xfrm>
            <a:prstGeom prst="ellipse">
              <a:avLst/>
            </a:prstGeom>
            <a:solidFill>
              <a:schemeClr val="accent6"/>
            </a:solidFill>
            <a:ln cap="flat" cmpd="sng" w="25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Legal Setup + Operating Agreement</a:t>
              </a:r>
              <a:endParaRPr b="1" sz="144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2" name="Google Shape;652;p63"/>
            <p:cNvSpPr/>
            <p:nvPr/>
          </p:nvSpPr>
          <p:spPr>
            <a:xfrm>
              <a:off x="2780434" y="1166296"/>
              <a:ext cx="656400" cy="842100"/>
            </a:xfrm>
            <a:prstGeom prst="ellipse">
              <a:avLst/>
            </a:prstGeom>
            <a:solidFill>
              <a:schemeClr val="accent6"/>
            </a:solidFill>
            <a:ln cap="flat" cmpd="sng" w="25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First Client Pilots + USDA Grant Validation</a:t>
              </a:r>
              <a:endParaRPr b="1" sz="144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53" name="Google Shape;653;p63"/>
          <p:cNvSpPr txBox="1"/>
          <p:nvPr>
            <p:ph type="title"/>
          </p:nvPr>
        </p:nvSpPr>
        <p:spPr>
          <a:xfrm>
            <a:off x="2596774" y="179850"/>
            <a:ext cx="6352500" cy="10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Ready to Launch With the Right Backing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654" name="Google Shape;654;p63" title="IMG_1548.PNG"/>
          <p:cNvPicPr preferRelativeResize="0"/>
          <p:nvPr/>
        </p:nvPicPr>
        <p:blipFill rotWithShape="1">
          <a:blip r:embed="rId3">
            <a:alphaModFix/>
          </a:blip>
          <a:srcRect b="68213" l="45112" r="40256" t="15984"/>
          <a:stretch/>
        </p:blipFill>
        <p:spPr>
          <a:xfrm>
            <a:off x="0" y="1852000"/>
            <a:ext cx="523801" cy="377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5" name="Google Shape;655;p63"/>
          <p:cNvCxnSpPr/>
          <p:nvPr/>
        </p:nvCxnSpPr>
        <p:spPr>
          <a:xfrm>
            <a:off x="2462525" y="683248"/>
            <a:ext cx="652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56" name="Google Shape;656;p63" title="IMG_1548.PNG"/>
          <p:cNvPicPr preferRelativeResize="0"/>
          <p:nvPr/>
        </p:nvPicPr>
        <p:blipFill rotWithShape="1">
          <a:blip r:embed="rId3">
            <a:alphaModFix/>
          </a:blip>
          <a:srcRect b="49355" l="30420" r="54947" t="32054"/>
          <a:stretch/>
        </p:blipFill>
        <p:spPr>
          <a:xfrm>
            <a:off x="8550288" y="819175"/>
            <a:ext cx="523801" cy="443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7" name="Google Shape;657;p63"/>
          <p:cNvGrpSpPr/>
          <p:nvPr/>
        </p:nvGrpSpPr>
        <p:grpSpPr>
          <a:xfrm>
            <a:off x="3605164" y="3225010"/>
            <a:ext cx="5159570" cy="1563443"/>
            <a:chOff x="2548107" y="2266575"/>
            <a:chExt cx="2102857" cy="842100"/>
          </a:xfrm>
        </p:grpSpPr>
        <p:sp>
          <p:nvSpPr>
            <p:cNvPr id="658" name="Google Shape;658;p63"/>
            <p:cNvSpPr/>
            <p:nvPr/>
          </p:nvSpPr>
          <p:spPr>
            <a:xfrm>
              <a:off x="2548107" y="2266575"/>
              <a:ext cx="656400" cy="842100"/>
            </a:xfrm>
            <a:prstGeom prst="ellipse">
              <a:avLst/>
            </a:prstGeom>
            <a:solidFill>
              <a:schemeClr val="accent6"/>
            </a:solidFill>
            <a:ln cap="flat" cmpd="sng" w="25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Team Onboarding + Developer Contracts</a:t>
              </a:r>
              <a:endParaRPr b="1" sz="144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59" name="Google Shape;659;p63"/>
            <p:cNvSpPr/>
            <p:nvPr/>
          </p:nvSpPr>
          <p:spPr>
            <a:xfrm>
              <a:off x="3271336" y="2266575"/>
              <a:ext cx="656400" cy="842100"/>
            </a:xfrm>
            <a:prstGeom prst="ellipse">
              <a:avLst/>
            </a:prstGeom>
            <a:solidFill>
              <a:schemeClr val="accent6"/>
            </a:solidFill>
            <a:ln cap="flat" cmpd="sng" w="25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In-House Hosting + </a:t>
              </a: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EBT</a:t>
              </a: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 Integrations</a:t>
              </a:r>
              <a:endParaRPr b="1" sz="144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60" name="Google Shape;660;p63"/>
            <p:cNvSpPr/>
            <p:nvPr/>
          </p:nvSpPr>
          <p:spPr>
            <a:xfrm>
              <a:off x="3994564" y="2266575"/>
              <a:ext cx="656400" cy="842100"/>
            </a:xfrm>
            <a:prstGeom prst="ellipse">
              <a:avLst/>
            </a:prstGeom>
            <a:solidFill>
              <a:schemeClr val="accent6"/>
            </a:solidFill>
            <a:ln cap="flat" cmpd="sng" w="25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County Farm </a:t>
              </a: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Bureau</a:t>
              </a: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 Storage/ </a:t>
              </a: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Distribution</a:t>
              </a:r>
              <a:endParaRPr b="1" sz="144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8">
                  <a:solidFill>
                    <a:schemeClr val="lt1"/>
                  </a:solidFill>
                  <a:latin typeface="DM Sans"/>
                  <a:ea typeface="DM Sans"/>
                  <a:cs typeface="DM Sans"/>
                  <a:sym typeface="DM Sans"/>
                </a:rPr>
                <a:t>Centers</a:t>
              </a:r>
              <a:endParaRPr b="1" sz="144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661" name="Google Shape;661;p63"/>
          <p:cNvSpPr/>
          <p:nvPr/>
        </p:nvSpPr>
        <p:spPr>
          <a:xfrm>
            <a:off x="4129196" y="1723612"/>
            <a:ext cx="473100" cy="12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7650" lIns="107650" spcFirstLastPara="1" rIns="107650" wrap="square" tIns="10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2" name="Google Shape;662;p63"/>
          <p:cNvSpPr/>
          <p:nvPr/>
        </p:nvSpPr>
        <p:spPr>
          <a:xfrm>
            <a:off x="6835798" y="3369349"/>
            <a:ext cx="473100" cy="12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7650" lIns="107650" spcFirstLastPara="1" rIns="107650" wrap="square" tIns="10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3" name="Google Shape;663;p63"/>
          <p:cNvSpPr/>
          <p:nvPr/>
        </p:nvSpPr>
        <p:spPr>
          <a:xfrm>
            <a:off x="5069218" y="4570833"/>
            <a:ext cx="473100" cy="12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7650" lIns="107650" spcFirstLastPara="1" rIns="107650" wrap="square" tIns="10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8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4" name="Google Shape;664;p63"/>
          <p:cNvSpPr/>
          <p:nvPr/>
        </p:nvSpPr>
        <p:spPr>
          <a:xfrm rot="8100000">
            <a:off x="4947952" y="3254535"/>
            <a:ext cx="473054" cy="12855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7650" lIns="107650" spcFirstLastPara="1" rIns="107650" wrap="square" tIns="10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48"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65" name="Google Shape;665;p63"/>
          <p:cNvCxnSpPr/>
          <p:nvPr/>
        </p:nvCxnSpPr>
        <p:spPr>
          <a:xfrm>
            <a:off x="2596775" y="1172148"/>
            <a:ext cx="6528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Google Shape;670;p64" title="bocage3.jpg"/>
          <p:cNvPicPr preferRelativeResize="0"/>
          <p:nvPr/>
        </p:nvPicPr>
        <p:blipFill rotWithShape="1">
          <a:blip r:embed="rId3">
            <a:alphaModFix amt="26000"/>
          </a:blip>
          <a:srcRect b="0" l="5069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4"/>
          <p:cNvSpPr txBox="1"/>
          <p:nvPr>
            <p:ph idx="4294967295" type="title"/>
          </p:nvPr>
        </p:nvSpPr>
        <p:spPr>
          <a:xfrm>
            <a:off x="1225650" y="504775"/>
            <a:ext cx="6692700" cy="13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</a:t>
            </a:r>
            <a:r>
              <a:rPr b="1" i="1" lang="en" u="sng"/>
              <a:t>MOO-ving</a:t>
            </a:r>
            <a:r>
              <a:rPr lang="en"/>
              <a:t> to build something local, scalable, and ours. </a:t>
            </a:r>
            <a:endParaRPr/>
          </a:p>
          <a:p>
            <a:pPr indent="-355600" lvl="0" marL="457200" marR="203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Collaboration over Centralization</a:t>
            </a:r>
            <a:endParaRPr sz="2000"/>
          </a:p>
        </p:txBody>
      </p:sp>
      <p:sp>
        <p:nvSpPr>
          <p:cNvPr id="672" name="Google Shape;672;p64"/>
          <p:cNvSpPr txBox="1"/>
          <p:nvPr/>
        </p:nvSpPr>
        <p:spPr>
          <a:xfrm>
            <a:off x="90875" y="4446550"/>
            <a:ext cx="4528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Contact: Dylan Montgomery to learn more at</a:t>
            </a:r>
            <a:endParaRPr sz="1600">
              <a:solidFill>
                <a:schemeClr val="lt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DM Sans Medium"/>
              <a:buChar char="-"/>
            </a:pPr>
            <a:r>
              <a:rPr lang="en" sz="16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dylancarsonmontgomery@gmail.com</a:t>
            </a:r>
            <a:endParaRPr sz="16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73" name="Google Shape;673;p6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6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Fruitful Network Development</a:t>
            </a:r>
            <a:endParaRPr/>
          </a:p>
        </p:txBody>
      </p:sp>
      <p:sp>
        <p:nvSpPr>
          <p:cNvPr id="675" name="Google Shape;675;p64"/>
          <p:cNvSpPr txBox="1"/>
          <p:nvPr/>
        </p:nvSpPr>
        <p:spPr>
          <a:xfrm>
            <a:off x="304800" y="609600"/>
            <a:ext cx="92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M Sans Light"/>
                <a:ea typeface="DM Sans Light"/>
                <a:cs typeface="DM Sans Light"/>
                <a:sym typeface="DM Sans Light"/>
              </a:rPr>
              <a:t>NEXT STEPS</a:t>
            </a:r>
            <a:endParaRPr sz="1000">
              <a:solidFill>
                <a:schemeClr val="lt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pic>
        <p:nvPicPr>
          <p:cNvPr id="676" name="Google Shape;676;p64" title="cow.jpg"/>
          <p:cNvPicPr preferRelativeResize="0"/>
          <p:nvPr/>
        </p:nvPicPr>
        <p:blipFill rotWithShape="1">
          <a:blip r:embed="rId4">
            <a:alphaModFix/>
          </a:blip>
          <a:srcRect b="0" l="5356" r="0" t="0"/>
          <a:stretch/>
        </p:blipFill>
        <p:spPr>
          <a:xfrm>
            <a:off x="3022926" y="1908000"/>
            <a:ext cx="3098150" cy="2183374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4"/>
          <p:cNvSpPr txBox="1"/>
          <p:nvPr/>
        </p:nvSpPr>
        <p:spPr>
          <a:xfrm>
            <a:off x="5989350" y="4441400"/>
            <a:ext cx="1351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 learn more here:</a:t>
            </a:r>
            <a:endParaRPr sz="160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678" name="Google Shape;678;p64" title="Screenshot from 2025-05-16 13-30-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0814" y="3337800"/>
            <a:ext cx="1803185" cy="18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4" title="IMG_1548.PNG"/>
          <p:cNvPicPr preferRelativeResize="0"/>
          <p:nvPr/>
        </p:nvPicPr>
        <p:blipFill rotWithShape="1">
          <a:blip r:embed="rId6">
            <a:alphaModFix/>
          </a:blip>
          <a:srcRect b="14390" l="72319" r="13049" t="65867"/>
          <a:stretch/>
        </p:blipFill>
        <p:spPr>
          <a:xfrm>
            <a:off x="-12" y="-101875"/>
            <a:ext cx="523801" cy="47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